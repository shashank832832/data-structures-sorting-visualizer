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F344BD8-2237-44BA-AC03-E53045FCAB57}">
          <p14:sldIdLst>
            <p14:sldId id="256"/>
            <p14:sldId id="257"/>
          </p14:sldIdLst>
        </p14:section>
        <p14:section name="Untitled Section" id="{C84C8038-2331-4067-BD48-B39484DBA72F}">
          <p14:sldIdLst>
            <p14:sldId id="258"/>
            <p14:sldId id="259"/>
            <p14:sldId id="261"/>
            <p14:sldId id="262"/>
            <p14:sldId id="263"/>
            <p14:sldId id="264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657F35-F32C-4D8E-ABCD-84AC2EEAA4F9}" type="doc">
      <dgm:prSet loTypeId="urn:microsoft.com/office/officeart/2005/8/layout/hierarchy2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B741E62-4525-42D4-8D90-E0F9F1B687AB}" type="pres">
      <dgm:prSet presAssocID="{54657F35-F32C-4D8E-ABCD-84AC2EEAA4F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</dgm:ptLst>
  <dgm:cxnLst>
    <dgm:cxn modelId="{7DF953B5-B2EF-4C27-890D-9E0DC6D84512}" type="presOf" srcId="{54657F35-F32C-4D8E-ABCD-84AC2EEAA4F9}" destId="{CB741E62-4525-42D4-8D90-E0F9F1B687AB}" srcOrd="0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436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572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101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87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86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043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91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82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99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412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327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407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798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663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19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854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106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F0BDEAC-129D-485B-92E2-E362B4BB6C39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EA659E8-D2A3-47F5-B48E-48DB7CDA3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239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7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8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8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8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 /><Relationship Id="rId1" Type="http://schemas.openxmlformats.org/officeDocument/2006/relationships/slideLayout" Target="../slideLayouts/slideLayout8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8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C449C2-7BCE-CBB3-8222-265597398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7605" y="0"/>
            <a:ext cx="1362721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9BDE75-BD4A-DB34-AE6D-2763104AF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3275" y="96158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</a:t>
            </a:r>
            <a:b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b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Sorting Algorithms</a:t>
            </a:r>
            <a:b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visualization tool</a:t>
            </a:r>
            <a:endParaRPr lang="en-IN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37A40-55A7-FC91-418D-88E899E5E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9440" y="4141018"/>
            <a:ext cx="4853708" cy="23876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i="1" dirty="0">
                <a:solidFill>
                  <a:schemeClr val="bg1"/>
                </a:solidFill>
              </a:rPr>
              <a:t>by</a:t>
            </a:r>
          </a:p>
          <a:p>
            <a:r>
              <a:rPr lang="en-IN" b="1" i="1" dirty="0">
                <a:solidFill>
                  <a:schemeClr val="bg1"/>
                </a:solidFill>
              </a:rPr>
              <a:t>Anoop Tripathi – 2401EC16</a:t>
            </a:r>
          </a:p>
          <a:p>
            <a:r>
              <a:rPr lang="en-IN" b="1" i="1" dirty="0">
                <a:solidFill>
                  <a:schemeClr val="bg1"/>
                </a:solidFill>
              </a:rPr>
              <a:t>Shashank Mishra – 2401E36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07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955427-A7A5-05D5-CE50-CBF762817B72}"/>
              </a:ext>
            </a:extLst>
          </p:cNvPr>
          <p:cNvSpPr txBox="1"/>
          <p:nvPr/>
        </p:nvSpPr>
        <p:spPr>
          <a:xfrm>
            <a:off x="138896" y="127322"/>
            <a:ext cx="1189877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i="1"/>
              <a:t>                        What are Data Structures and Algorithms?</a:t>
            </a:r>
            <a:br>
              <a:rPr lang="en-US" sz="2800" b="1"/>
            </a:br>
            <a:r>
              <a:rPr lang="en-US" sz="2800" b="1"/>
              <a:t>   </a:t>
            </a:r>
            <a:r>
              <a:rPr lang="en-US" sz="2800"/>
              <a:t>Data structures are ways to organize and store data efficiently, while algorithms are step-by-step methods for solving problems or performing tasks.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i="1"/>
              <a:t>Why are they important ?</a:t>
            </a:r>
            <a:br>
              <a:rPr lang="en-US" sz="2800"/>
            </a:br>
            <a:r>
              <a:rPr lang="en-US" sz="2800"/>
              <a:t>They are the backbone of computer science, enabling faster data processing, optimized memory usage, and better program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i="1"/>
              <a:t>Applications:</a:t>
            </a:r>
            <a:endParaRPr lang="en-US" sz="28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/>
              <a:t>Search engines (e.g., Google) rely on sorting algorithms and graph structures.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/>
              <a:t>Social media platforms use data structures to manage user data and connections.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/>
              <a:t>Games implement algorithms for pathfinding, AI behavior, and resource management.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/>
              <a:t>HERE COMES EASY VISULISATION FOR BETTER UNDERSTANDING !!!</a:t>
            </a:r>
          </a:p>
        </p:txBody>
      </p:sp>
    </p:spTree>
    <p:extLst>
      <p:ext uri="{BB962C8B-B14F-4D97-AF65-F5344CB8AC3E}">
        <p14:creationId xmlns:p14="http://schemas.microsoft.com/office/powerpoint/2010/main" val="3592434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1663B1D-D0D6-C1F5-0B2C-DEF45D2AE0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1741334"/>
              </p:ext>
            </p:extLst>
          </p:nvPr>
        </p:nvGraphicFramePr>
        <p:xfrm>
          <a:off x="3078276" y="1241298"/>
          <a:ext cx="5702946" cy="922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54539E-E55E-4957-B4D5-31AD4B4B624F}"/>
              </a:ext>
            </a:extLst>
          </p:cNvPr>
          <p:cNvSpPr/>
          <p:nvPr/>
        </p:nvSpPr>
        <p:spPr>
          <a:xfrm>
            <a:off x="7666989" y="1050435"/>
            <a:ext cx="2074064" cy="686726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                  </a:t>
            </a:r>
            <a:r>
              <a:rPr lang="en-US" sz="2400">
                <a:solidFill>
                  <a:schemeClr val="bg1"/>
                </a:solidFill>
              </a:rPr>
              <a:t>ALGORITHMS</a:t>
            </a:r>
            <a:endParaRPr lang="en-IN" sz="240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60C3BB-3B09-A8C1-C403-C52E17BAFFCF}"/>
              </a:ext>
            </a:extLst>
          </p:cNvPr>
          <p:cNvGrpSpPr/>
          <p:nvPr/>
        </p:nvGrpSpPr>
        <p:grpSpPr>
          <a:xfrm>
            <a:off x="3362809" y="1107053"/>
            <a:ext cx="2227835" cy="686726"/>
            <a:chOff x="4311024" y="790601"/>
            <a:chExt cx="1373453" cy="68672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A44E9FB-8FB2-8C5A-4ADD-C73C270FA575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C00795CF-F6A7-EDD2-7DD6-8C95D5FDBC35}"/>
                </a:ext>
              </a:extLst>
            </p:cNvPr>
            <p:cNvSpPr txBox="1"/>
            <p:nvPr/>
          </p:nvSpPr>
          <p:spPr>
            <a:xfrm>
              <a:off x="4311024" y="830829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445" tIns="4445" rIns="4445" bIns="4445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>
                  <a:solidFill>
                    <a:schemeClr val="bg1"/>
                  </a:solidFill>
                </a:rPr>
                <a:t>DATA STRUCTURES</a:t>
              </a:r>
              <a:endParaRPr lang="en-IN" sz="2400" kern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B37708B-F76C-93EB-8EC9-EFC9255A60D0}"/>
              </a:ext>
            </a:extLst>
          </p:cNvPr>
          <p:cNvGrpSpPr/>
          <p:nvPr/>
        </p:nvGrpSpPr>
        <p:grpSpPr>
          <a:xfrm>
            <a:off x="9034213" y="4191204"/>
            <a:ext cx="1373453" cy="686726"/>
            <a:chOff x="4311024" y="790601"/>
            <a:chExt cx="1373453" cy="68672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470713E-5EDD-B7A1-504A-E0586BB8CB9B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01865B41-3CBF-84E5-4DF0-F56D1A58ABC8}"/>
                </a:ext>
              </a:extLst>
            </p:cNvPr>
            <p:cNvSpPr txBox="1"/>
            <p:nvPr/>
          </p:nvSpPr>
          <p:spPr>
            <a:xfrm>
              <a:off x="4331138" y="810715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SELECTION SORT</a:t>
              </a:r>
              <a:endParaRPr lang="en-IN" sz="1400" kern="120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577D9C-DE9F-C7F3-943A-F670AA2E563F}"/>
              </a:ext>
            </a:extLst>
          </p:cNvPr>
          <p:cNvGrpSpPr/>
          <p:nvPr/>
        </p:nvGrpSpPr>
        <p:grpSpPr>
          <a:xfrm>
            <a:off x="6127412" y="3373133"/>
            <a:ext cx="1373453" cy="686726"/>
            <a:chOff x="4311024" y="790601"/>
            <a:chExt cx="1373453" cy="68672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0E0EBDD-55FA-D278-A4C3-1A5185222F44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19A51ACD-C1B4-54DF-6B64-6CE65186EF9E}"/>
                </a:ext>
              </a:extLst>
            </p:cNvPr>
            <p:cNvSpPr txBox="1"/>
            <p:nvPr/>
          </p:nvSpPr>
          <p:spPr>
            <a:xfrm>
              <a:off x="4331138" y="810715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/>
                <a:t>BST</a:t>
              </a:r>
              <a:endParaRPr lang="en-IN" sz="2800" kern="120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6E73929-0FA1-5FB8-4D84-FFDD03344B26}"/>
              </a:ext>
            </a:extLst>
          </p:cNvPr>
          <p:cNvGrpSpPr/>
          <p:nvPr/>
        </p:nvGrpSpPr>
        <p:grpSpPr>
          <a:xfrm>
            <a:off x="4004410" y="3390344"/>
            <a:ext cx="1385956" cy="686726"/>
            <a:chOff x="4311024" y="790601"/>
            <a:chExt cx="1385956" cy="686726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9AE54CE-30F3-17C5-2B24-56C1523A6E50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Rectangle: Rounded Corners 4">
              <a:extLst>
                <a:ext uri="{FF2B5EF4-FFF2-40B4-BE49-F238E27FC236}">
                  <a16:creationId xmlns:a16="http://schemas.microsoft.com/office/drawing/2014/main" id="{E49F3D22-4ACA-038F-956E-468108EBB0F2}"/>
                </a:ext>
              </a:extLst>
            </p:cNvPr>
            <p:cNvSpPr txBox="1"/>
            <p:nvPr/>
          </p:nvSpPr>
          <p:spPr>
            <a:xfrm>
              <a:off x="4363755" y="827513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/>
                <a:t>STACK</a:t>
              </a:r>
              <a:endParaRPr lang="en-IN" sz="2800" kern="12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12F4C3C-3937-4BAD-B155-F8055D0F2972}"/>
              </a:ext>
            </a:extLst>
          </p:cNvPr>
          <p:cNvGrpSpPr/>
          <p:nvPr/>
        </p:nvGrpSpPr>
        <p:grpSpPr>
          <a:xfrm>
            <a:off x="4057141" y="5566467"/>
            <a:ext cx="1373453" cy="686726"/>
            <a:chOff x="6212759" y="383678"/>
            <a:chExt cx="1373453" cy="68672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72F5E5F-F2EC-D983-DE77-2E49EABE415D}"/>
                </a:ext>
              </a:extLst>
            </p:cNvPr>
            <p:cNvSpPr/>
            <p:nvPr/>
          </p:nvSpPr>
          <p:spPr>
            <a:xfrm>
              <a:off x="6212759" y="383678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Rectangle: Rounded Corners 4">
              <a:extLst>
                <a:ext uri="{FF2B5EF4-FFF2-40B4-BE49-F238E27FC236}">
                  <a16:creationId xmlns:a16="http://schemas.microsoft.com/office/drawing/2014/main" id="{AF8378F0-B4D5-6BF4-E42D-FE088D84D002}"/>
                </a:ext>
              </a:extLst>
            </p:cNvPr>
            <p:cNvSpPr txBox="1"/>
            <p:nvPr/>
          </p:nvSpPr>
          <p:spPr>
            <a:xfrm>
              <a:off x="6245809" y="423906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USING LINKED LIST</a:t>
              </a:r>
              <a:endParaRPr lang="en-IN" sz="1600" kern="12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9DC293-1DEF-BE83-93AF-2174531A7830}"/>
              </a:ext>
            </a:extLst>
          </p:cNvPr>
          <p:cNvGrpSpPr/>
          <p:nvPr/>
        </p:nvGrpSpPr>
        <p:grpSpPr>
          <a:xfrm>
            <a:off x="4057141" y="4525558"/>
            <a:ext cx="1373453" cy="686726"/>
            <a:chOff x="4311024" y="790601"/>
            <a:chExt cx="1373453" cy="68672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E8B0AC5-0FC9-47FE-2507-60F954D1C5C3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E6A1B81F-DAEB-57DF-FD4C-016930346134}"/>
                </a:ext>
              </a:extLst>
            </p:cNvPr>
            <p:cNvSpPr txBox="1"/>
            <p:nvPr/>
          </p:nvSpPr>
          <p:spPr>
            <a:xfrm>
              <a:off x="4311024" y="790601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USING ARRAY</a:t>
              </a:r>
              <a:endParaRPr lang="en-IN" sz="1600" kern="120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3670776-4320-D7FB-7090-650A1E477D91}"/>
              </a:ext>
            </a:extLst>
          </p:cNvPr>
          <p:cNvGrpSpPr/>
          <p:nvPr/>
        </p:nvGrpSpPr>
        <p:grpSpPr>
          <a:xfrm>
            <a:off x="2079620" y="3386476"/>
            <a:ext cx="1373453" cy="686726"/>
            <a:chOff x="4311024" y="790601"/>
            <a:chExt cx="1373453" cy="686726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7EFDE6E9-651E-0A54-7B7A-33139F2D958D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FB5715B6-A788-050F-301C-697DDD72436F}"/>
                </a:ext>
              </a:extLst>
            </p:cNvPr>
            <p:cNvSpPr txBox="1"/>
            <p:nvPr/>
          </p:nvSpPr>
          <p:spPr>
            <a:xfrm>
              <a:off x="4331138" y="810715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/>
                <a:t>QUEUE</a:t>
              </a:r>
              <a:endParaRPr lang="en-IN" sz="2800" kern="120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7C7BE0E-84D1-98F6-683E-531D174DF66F}"/>
              </a:ext>
            </a:extLst>
          </p:cNvPr>
          <p:cNvGrpSpPr/>
          <p:nvPr/>
        </p:nvGrpSpPr>
        <p:grpSpPr>
          <a:xfrm>
            <a:off x="142445" y="3348662"/>
            <a:ext cx="1373453" cy="686726"/>
            <a:chOff x="4311024" y="790601"/>
            <a:chExt cx="1373453" cy="686726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F4A0BB8F-AA61-BBB4-1159-D4953D007998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E74D5868-DB6E-BF98-C020-2D9300B9E179}"/>
                </a:ext>
              </a:extLst>
            </p:cNvPr>
            <p:cNvSpPr txBox="1"/>
            <p:nvPr/>
          </p:nvSpPr>
          <p:spPr>
            <a:xfrm>
              <a:off x="4331138" y="810715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LINKED LIST</a:t>
              </a:r>
              <a:endParaRPr lang="en-IN" kern="12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F6A1EFE-FCBD-D77A-313A-779A1BB98572}"/>
              </a:ext>
            </a:extLst>
          </p:cNvPr>
          <p:cNvGrpSpPr/>
          <p:nvPr/>
        </p:nvGrpSpPr>
        <p:grpSpPr>
          <a:xfrm>
            <a:off x="5409273" y="2346119"/>
            <a:ext cx="1373453" cy="686726"/>
            <a:chOff x="4311024" y="790601"/>
            <a:chExt cx="1373453" cy="686726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82F4756-8A76-051A-5416-194EF4CA3DB3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6F76463A-0C20-7318-4B5B-C091B1A35BD4}"/>
                </a:ext>
              </a:extLst>
            </p:cNvPr>
            <p:cNvSpPr txBox="1"/>
            <p:nvPr/>
          </p:nvSpPr>
          <p:spPr>
            <a:xfrm>
              <a:off x="4311024" y="810715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/>
                <a:t>NON LINEAR</a:t>
              </a:r>
              <a:endParaRPr lang="en-IN" sz="2000" kern="120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CA37D96-84EC-A409-F374-B375D8B4412C}"/>
              </a:ext>
            </a:extLst>
          </p:cNvPr>
          <p:cNvGrpSpPr/>
          <p:nvPr/>
        </p:nvGrpSpPr>
        <p:grpSpPr>
          <a:xfrm>
            <a:off x="6095999" y="5548016"/>
            <a:ext cx="1373453" cy="686726"/>
            <a:chOff x="4311024" y="790601"/>
            <a:chExt cx="1373453" cy="686726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8C84730-AA0B-1B6E-82FB-17D2EB4FE64D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Rectangle: Rounded Corners 4">
              <a:extLst>
                <a:ext uri="{FF2B5EF4-FFF2-40B4-BE49-F238E27FC236}">
                  <a16:creationId xmlns:a16="http://schemas.microsoft.com/office/drawing/2014/main" id="{449D2334-8C1E-F3F8-07DB-65953FCD7FD9}"/>
                </a:ext>
              </a:extLst>
            </p:cNvPr>
            <p:cNvSpPr txBox="1"/>
            <p:nvPr/>
          </p:nvSpPr>
          <p:spPr>
            <a:xfrm>
              <a:off x="4331138" y="810715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/>
                <a:t>GRAPH</a:t>
              </a:r>
              <a:endParaRPr lang="en-IN" sz="2800" kern="120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CF507BA-38A8-B1E6-7070-3D474E31EFDC}"/>
              </a:ext>
            </a:extLst>
          </p:cNvPr>
          <p:cNvGrpSpPr/>
          <p:nvPr/>
        </p:nvGrpSpPr>
        <p:grpSpPr>
          <a:xfrm>
            <a:off x="2107388" y="2328095"/>
            <a:ext cx="1373453" cy="686726"/>
            <a:chOff x="4311024" y="790601"/>
            <a:chExt cx="1373453" cy="686726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56F8C7AE-1DAD-68F3-58A8-B947D56DC8F9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0" name="Rectangle: Rounded Corners 4">
              <a:extLst>
                <a:ext uri="{FF2B5EF4-FFF2-40B4-BE49-F238E27FC236}">
                  <a16:creationId xmlns:a16="http://schemas.microsoft.com/office/drawing/2014/main" id="{3A4B5F49-30F2-2ECE-4E94-CC2208C227DD}"/>
                </a:ext>
              </a:extLst>
            </p:cNvPr>
            <p:cNvSpPr txBox="1"/>
            <p:nvPr/>
          </p:nvSpPr>
          <p:spPr>
            <a:xfrm>
              <a:off x="4331138" y="810715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/>
                <a:t>LINEAR</a:t>
              </a:r>
              <a:endParaRPr lang="en-IN" sz="2800" kern="120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0862401-7642-A629-E729-C66741B0206F}"/>
              </a:ext>
            </a:extLst>
          </p:cNvPr>
          <p:cNvGrpSpPr/>
          <p:nvPr/>
        </p:nvGrpSpPr>
        <p:grpSpPr>
          <a:xfrm>
            <a:off x="9074441" y="5926986"/>
            <a:ext cx="1373453" cy="686726"/>
            <a:chOff x="4311024" y="790601"/>
            <a:chExt cx="1373453" cy="686726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4676692E-3153-354D-8D8D-08BC2993F6D2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" name="Rectangle: Rounded Corners 4">
              <a:extLst>
                <a:ext uri="{FF2B5EF4-FFF2-40B4-BE49-F238E27FC236}">
                  <a16:creationId xmlns:a16="http://schemas.microsoft.com/office/drawing/2014/main" id="{47A86E8A-53C7-CB1A-3C44-914CC61EF4B8}"/>
                </a:ext>
              </a:extLst>
            </p:cNvPr>
            <p:cNvSpPr txBox="1"/>
            <p:nvPr/>
          </p:nvSpPr>
          <p:spPr>
            <a:xfrm>
              <a:off x="4331138" y="810715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MERGE SORT</a:t>
              </a:r>
              <a:endParaRPr lang="en-IN" kern="120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4ADD0C7-337C-9CDC-984A-7D4370AEE6D6}"/>
              </a:ext>
            </a:extLst>
          </p:cNvPr>
          <p:cNvGrpSpPr/>
          <p:nvPr/>
        </p:nvGrpSpPr>
        <p:grpSpPr>
          <a:xfrm>
            <a:off x="9054327" y="5068793"/>
            <a:ext cx="1373453" cy="686726"/>
            <a:chOff x="4311024" y="790601"/>
            <a:chExt cx="1373453" cy="686726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B312FA5C-3F8F-5E84-93DA-602162B0E53E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6" name="Rectangle: Rounded Corners 4">
              <a:extLst>
                <a:ext uri="{FF2B5EF4-FFF2-40B4-BE49-F238E27FC236}">
                  <a16:creationId xmlns:a16="http://schemas.microsoft.com/office/drawing/2014/main" id="{5766A9F5-6184-7C3C-FD2F-7DE7C73C9AF3}"/>
                </a:ext>
              </a:extLst>
            </p:cNvPr>
            <p:cNvSpPr txBox="1"/>
            <p:nvPr/>
          </p:nvSpPr>
          <p:spPr>
            <a:xfrm>
              <a:off x="4331138" y="810715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/>
                <a:t>HEAP SORT</a:t>
              </a:r>
              <a:endParaRPr lang="en-IN" kern="120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9E1FAA6-44F9-1718-5B5D-5134056FA256}"/>
              </a:ext>
            </a:extLst>
          </p:cNvPr>
          <p:cNvGrpSpPr/>
          <p:nvPr/>
        </p:nvGrpSpPr>
        <p:grpSpPr>
          <a:xfrm>
            <a:off x="6095998" y="4534566"/>
            <a:ext cx="1373453" cy="686727"/>
            <a:chOff x="4311024" y="790600"/>
            <a:chExt cx="1373453" cy="686727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E10CBA9-5D87-5500-D789-A4A0A82756E9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Rectangle: Rounded Corners 4">
              <a:extLst>
                <a:ext uri="{FF2B5EF4-FFF2-40B4-BE49-F238E27FC236}">
                  <a16:creationId xmlns:a16="http://schemas.microsoft.com/office/drawing/2014/main" id="{0C5F2951-5CEC-BE4B-6E9D-D54027D36ABA}"/>
                </a:ext>
              </a:extLst>
            </p:cNvPr>
            <p:cNvSpPr txBox="1"/>
            <p:nvPr/>
          </p:nvSpPr>
          <p:spPr>
            <a:xfrm>
              <a:off x="4331139" y="790600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/>
                <a:t>AVL</a:t>
              </a:r>
              <a:endParaRPr lang="en-IN" sz="2800" kern="120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2A1C36B-C4F8-7DE8-9B53-BB77BC1177F1}"/>
              </a:ext>
            </a:extLst>
          </p:cNvPr>
          <p:cNvGrpSpPr/>
          <p:nvPr/>
        </p:nvGrpSpPr>
        <p:grpSpPr>
          <a:xfrm>
            <a:off x="2099087" y="4534567"/>
            <a:ext cx="1373453" cy="686726"/>
            <a:chOff x="4311024" y="790601"/>
            <a:chExt cx="1373453" cy="686726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F6933BBE-2ECA-C332-D706-6E8A8E24E520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1" name="Rectangle: Rounded Corners 4">
              <a:extLst>
                <a:ext uri="{FF2B5EF4-FFF2-40B4-BE49-F238E27FC236}">
                  <a16:creationId xmlns:a16="http://schemas.microsoft.com/office/drawing/2014/main" id="{8BA45658-93C1-EB3F-40C9-06FC004720E8}"/>
                </a:ext>
              </a:extLst>
            </p:cNvPr>
            <p:cNvSpPr txBox="1"/>
            <p:nvPr/>
          </p:nvSpPr>
          <p:spPr>
            <a:xfrm>
              <a:off x="4311024" y="790601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USING ARRAY</a:t>
              </a:r>
              <a:endParaRPr lang="en-IN" sz="1600" kern="1200"/>
            </a:p>
          </p:txBody>
        </p:sp>
      </p:grp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60B83C9F-0F19-B67D-8E3F-66945169C1CF}"/>
              </a:ext>
            </a:extLst>
          </p:cNvPr>
          <p:cNvSpPr/>
          <p:nvPr/>
        </p:nvSpPr>
        <p:spPr>
          <a:xfrm>
            <a:off x="2058859" y="5548016"/>
            <a:ext cx="1373453" cy="686726"/>
          </a:xfrm>
          <a:prstGeom prst="roundRect">
            <a:avLst>
              <a:gd name="adj" fmla="val 1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US" sz="1600" kern="1200"/>
              <a:t>USING LINKED LIST</a:t>
            </a:r>
            <a:endParaRPr lang="en-IN" sz="1600" kern="1200"/>
          </a:p>
          <a:p>
            <a:endParaRPr lang="en-IN"/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AC444648-F105-87CC-90C0-7A8F6B1C2690}"/>
              </a:ext>
            </a:extLst>
          </p:cNvPr>
          <p:cNvCxnSpPr>
            <a:stCxn id="49" idx="1"/>
            <a:endCxn id="33" idx="0"/>
          </p:cNvCxnSpPr>
          <p:nvPr/>
        </p:nvCxnSpPr>
        <p:spPr>
          <a:xfrm rot="10800000" flipV="1">
            <a:off x="829172" y="2671458"/>
            <a:ext cx="1278216" cy="67720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5C3B0C4F-7B3F-F94D-0475-33CE39E91F7E}"/>
              </a:ext>
            </a:extLst>
          </p:cNvPr>
          <p:cNvCxnSpPr>
            <a:stCxn id="49" idx="3"/>
            <a:endCxn id="21" idx="0"/>
          </p:cNvCxnSpPr>
          <p:nvPr/>
        </p:nvCxnSpPr>
        <p:spPr>
          <a:xfrm>
            <a:off x="3480841" y="2671458"/>
            <a:ext cx="1210296" cy="71888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96FB5045-9A4F-AA75-AB46-8AF4B0BE582E}"/>
              </a:ext>
            </a:extLst>
          </p:cNvPr>
          <p:cNvCxnSpPr>
            <a:stCxn id="30" idx="1"/>
            <a:endCxn id="71" idx="1"/>
          </p:cNvCxnSpPr>
          <p:nvPr/>
        </p:nvCxnSpPr>
        <p:spPr>
          <a:xfrm rot="10800000" flipH="1" flipV="1">
            <a:off x="2079619" y="3729838"/>
            <a:ext cx="19467" cy="1127977"/>
          </a:xfrm>
          <a:prstGeom prst="bentConnector3">
            <a:avLst>
              <a:gd name="adj1" fmla="val -1174295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B6F9B899-2936-AE29-8BC0-DE67F6111091}"/>
              </a:ext>
            </a:extLst>
          </p:cNvPr>
          <p:cNvCxnSpPr>
            <a:stCxn id="30" idx="1"/>
            <a:endCxn id="76" idx="1"/>
          </p:cNvCxnSpPr>
          <p:nvPr/>
        </p:nvCxnSpPr>
        <p:spPr>
          <a:xfrm rot="10800000" flipV="1">
            <a:off x="2058860" y="3729839"/>
            <a:ext cx="20761" cy="2161540"/>
          </a:xfrm>
          <a:prstGeom prst="bentConnector3">
            <a:avLst>
              <a:gd name="adj1" fmla="val 1201103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13E03C7F-F0BF-B499-5CFA-012D20EFAA00}"/>
              </a:ext>
            </a:extLst>
          </p:cNvPr>
          <p:cNvCxnSpPr>
            <a:stCxn id="22" idx="1"/>
            <a:endCxn id="28" idx="1"/>
          </p:cNvCxnSpPr>
          <p:nvPr/>
        </p:nvCxnSpPr>
        <p:spPr>
          <a:xfrm rot="10800000" flipV="1">
            <a:off x="4057141" y="3750505"/>
            <a:ext cx="12700" cy="1098302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11E7E633-5ACD-7A45-B9C7-070EF348D435}"/>
              </a:ext>
            </a:extLst>
          </p:cNvPr>
          <p:cNvCxnSpPr>
            <a:stCxn id="22" idx="1"/>
            <a:endCxn id="25" idx="1"/>
          </p:cNvCxnSpPr>
          <p:nvPr/>
        </p:nvCxnSpPr>
        <p:spPr>
          <a:xfrm rot="10800000" flipH="1" flipV="1">
            <a:off x="4057141" y="3750504"/>
            <a:ext cx="33050" cy="2179439"/>
          </a:xfrm>
          <a:prstGeom prst="bentConnector3">
            <a:avLst>
              <a:gd name="adj1" fmla="val -691679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5C5B5007-1E84-0585-789F-EC3EBD074340}"/>
              </a:ext>
            </a:extLst>
          </p:cNvPr>
          <p:cNvCxnSpPr>
            <a:stCxn id="36" idx="2"/>
            <a:endCxn id="19" idx="1"/>
          </p:cNvCxnSpPr>
          <p:nvPr/>
        </p:nvCxnSpPr>
        <p:spPr>
          <a:xfrm rot="16200000" flipH="1">
            <a:off x="5779938" y="3348907"/>
            <a:ext cx="683651" cy="5152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029D844-F92C-590D-AEA2-FCB6ED6668E8}"/>
              </a:ext>
            </a:extLst>
          </p:cNvPr>
          <p:cNvCxnSpPr>
            <a:cxnSpLocks/>
          </p:cNvCxnSpPr>
          <p:nvPr/>
        </p:nvCxnSpPr>
        <p:spPr>
          <a:xfrm>
            <a:off x="5858629" y="3651797"/>
            <a:ext cx="0" cy="11970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F346649-4DD9-EB71-5166-5C98E59C2FEC}"/>
              </a:ext>
            </a:extLst>
          </p:cNvPr>
          <p:cNvCxnSpPr>
            <a:endCxn id="59" idx="1"/>
          </p:cNvCxnSpPr>
          <p:nvPr/>
        </p:nvCxnSpPr>
        <p:spPr>
          <a:xfrm>
            <a:off x="5858630" y="4848806"/>
            <a:ext cx="257483" cy="90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F8FD32C-B1C5-8E30-7823-F85B88D5C9F9}"/>
              </a:ext>
            </a:extLst>
          </p:cNvPr>
          <p:cNvCxnSpPr/>
          <p:nvPr/>
        </p:nvCxnSpPr>
        <p:spPr>
          <a:xfrm>
            <a:off x="5844778" y="4884593"/>
            <a:ext cx="0" cy="10520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9DDB49F-7E16-34AF-8752-16A44B7BEB15}"/>
              </a:ext>
            </a:extLst>
          </p:cNvPr>
          <p:cNvCxnSpPr/>
          <p:nvPr/>
        </p:nvCxnSpPr>
        <p:spPr>
          <a:xfrm>
            <a:off x="5844778" y="5936606"/>
            <a:ext cx="2311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26A141D7-701D-12FE-701F-1A0F82B4DC21}"/>
              </a:ext>
            </a:extLst>
          </p:cNvPr>
          <p:cNvCxnSpPr>
            <a:endCxn id="50" idx="0"/>
          </p:cNvCxnSpPr>
          <p:nvPr/>
        </p:nvCxnSpPr>
        <p:spPr>
          <a:xfrm rot="10800000" flipV="1">
            <a:off x="2794116" y="1793779"/>
            <a:ext cx="1649985" cy="55443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C3681418-F086-CD69-2CB5-CA158228656D}"/>
              </a:ext>
            </a:extLst>
          </p:cNvPr>
          <p:cNvCxnSpPr>
            <a:endCxn id="37" idx="0"/>
          </p:cNvCxnSpPr>
          <p:nvPr/>
        </p:nvCxnSpPr>
        <p:spPr>
          <a:xfrm>
            <a:off x="4476726" y="1793779"/>
            <a:ext cx="1599160" cy="57245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0ABA7BB-5CFE-8BF0-C86C-A302DF597618}"/>
              </a:ext>
            </a:extLst>
          </p:cNvPr>
          <p:cNvGrpSpPr/>
          <p:nvPr/>
        </p:nvGrpSpPr>
        <p:grpSpPr>
          <a:xfrm>
            <a:off x="9000373" y="3277761"/>
            <a:ext cx="1373453" cy="686726"/>
            <a:chOff x="4311024" y="790601"/>
            <a:chExt cx="1373453" cy="68672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2B6E9A82-B24F-222C-86E0-5EF84B76545B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7" name="Rectangle: Rounded Corners 4">
              <a:extLst>
                <a:ext uri="{FF2B5EF4-FFF2-40B4-BE49-F238E27FC236}">
                  <a16:creationId xmlns:a16="http://schemas.microsoft.com/office/drawing/2014/main" id="{6B726BB7-09EB-E2BA-F2A9-A1448F9D7315}"/>
                </a:ext>
              </a:extLst>
            </p:cNvPr>
            <p:cNvSpPr txBox="1"/>
            <p:nvPr/>
          </p:nvSpPr>
          <p:spPr>
            <a:xfrm>
              <a:off x="4331138" y="810715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INSERTION SORT</a:t>
              </a:r>
              <a:endParaRPr lang="en-IN" sz="1400" kern="120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6049791-A6A9-2F39-A82E-32F4754366BA}"/>
              </a:ext>
            </a:extLst>
          </p:cNvPr>
          <p:cNvGrpSpPr/>
          <p:nvPr/>
        </p:nvGrpSpPr>
        <p:grpSpPr>
          <a:xfrm>
            <a:off x="9000374" y="2344175"/>
            <a:ext cx="1373453" cy="686726"/>
            <a:chOff x="4311024" y="790601"/>
            <a:chExt cx="1373453" cy="68672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F9DD7AFD-6398-8FDF-5E2F-FD88CEBFB5E8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0" name="Rectangle: Rounded Corners 4">
              <a:extLst>
                <a:ext uri="{FF2B5EF4-FFF2-40B4-BE49-F238E27FC236}">
                  <a16:creationId xmlns:a16="http://schemas.microsoft.com/office/drawing/2014/main" id="{0C27D942-0520-7223-9499-2694EA0D932A}"/>
                </a:ext>
              </a:extLst>
            </p:cNvPr>
            <p:cNvSpPr txBox="1"/>
            <p:nvPr/>
          </p:nvSpPr>
          <p:spPr>
            <a:xfrm>
              <a:off x="4331138" y="810715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/>
                <a:t>BUBBLE SORT</a:t>
              </a:r>
              <a:endParaRPr lang="en-IN" kern="1200"/>
            </a:p>
          </p:txBody>
        </p:sp>
      </p:grp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8647C50-CCF7-C2CD-1820-C6B8B55CDB39}"/>
              </a:ext>
            </a:extLst>
          </p:cNvPr>
          <p:cNvCxnSpPr>
            <a:endCxn id="19" idx="1"/>
          </p:cNvCxnSpPr>
          <p:nvPr/>
        </p:nvCxnSpPr>
        <p:spPr>
          <a:xfrm>
            <a:off x="5858629" y="3692025"/>
            <a:ext cx="288897" cy="244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7AF94CC0-9799-66C5-167F-40AB07C487E9}"/>
              </a:ext>
            </a:extLst>
          </p:cNvPr>
          <p:cNvCxnSpPr>
            <a:endCxn id="120" idx="1"/>
          </p:cNvCxnSpPr>
          <p:nvPr/>
        </p:nvCxnSpPr>
        <p:spPr>
          <a:xfrm rot="16200000" flipH="1">
            <a:off x="8415375" y="2082424"/>
            <a:ext cx="893759" cy="31646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005DB2AE-4503-D134-AC1F-8A5E58E87F32}"/>
              </a:ext>
            </a:extLst>
          </p:cNvPr>
          <p:cNvCxnSpPr>
            <a:endCxn id="117" idx="1"/>
          </p:cNvCxnSpPr>
          <p:nvPr/>
        </p:nvCxnSpPr>
        <p:spPr>
          <a:xfrm rot="16200000" flipH="1">
            <a:off x="7920273" y="2520909"/>
            <a:ext cx="1883963" cy="31646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846B33FE-17D4-3DEB-980F-D56EAB7FD9EF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7480471" y="2960710"/>
            <a:ext cx="2797407" cy="35030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8251142E-F272-988C-C042-E36E46F5511D}"/>
              </a:ext>
            </a:extLst>
          </p:cNvPr>
          <p:cNvCxnSpPr>
            <a:endCxn id="56" idx="1"/>
          </p:cNvCxnSpPr>
          <p:nvPr/>
        </p:nvCxnSpPr>
        <p:spPr>
          <a:xfrm rot="16200000" flipH="1">
            <a:off x="7051733" y="3389447"/>
            <a:ext cx="3674997" cy="37042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DF3B6974-204B-8C89-D80A-7C7BF1C944F6}"/>
              </a:ext>
            </a:extLst>
          </p:cNvPr>
          <p:cNvCxnSpPr>
            <a:endCxn id="52" idx="1"/>
          </p:cNvCxnSpPr>
          <p:nvPr/>
        </p:nvCxnSpPr>
        <p:spPr>
          <a:xfrm rot="16200000" flipH="1">
            <a:off x="6650946" y="3846853"/>
            <a:ext cx="4476571" cy="37042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8C50B15-E1A6-0351-EE56-E2968FAC6D4D}"/>
              </a:ext>
            </a:extLst>
          </p:cNvPr>
          <p:cNvGrpSpPr/>
          <p:nvPr/>
        </p:nvGrpSpPr>
        <p:grpSpPr>
          <a:xfrm>
            <a:off x="3480841" y="74988"/>
            <a:ext cx="5593600" cy="686726"/>
            <a:chOff x="4311024" y="790601"/>
            <a:chExt cx="1373453" cy="686726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06259F92-A134-6A82-E052-AEB8B3BCFB4C}"/>
                </a:ext>
              </a:extLst>
            </p:cNvPr>
            <p:cNvSpPr/>
            <p:nvPr/>
          </p:nvSpPr>
          <p:spPr>
            <a:xfrm>
              <a:off x="4311024" y="790601"/>
              <a:ext cx="1373453" cy="686726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5" name="Rectangle: Rounded Corners 4">
              <a:extLst>
                <a:ext uri="{FF2B5EF4-FFF2-40B4-BE49-F238E27FC236}">
                  <a16:creationId xmlns:a16="http://schemas.microsoft.com/office/drawing/2014/main" id="{9D60B399-F2E7-AE4E-8706-89C9A5ADAF9C}"/>
                </a:ext>
              </a:extLst>
            </p:cNvPr>
            <p:cNvSpPr txBox="1"/>
            <p:nvPr/>
          </p:nvSpPr>
          <p:spPr>
            <a:xfrm>
              <a:off x="4331138" y="810715"/>
              <a:ext cx="1333225" cy="646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9845" tIns="29845" rIns="29845" bIns="29845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700" kern="1200"/>
                <a:t>OUR PROJECT</a:t>
              </a:r>
              <a:endParaRPr lang="en-IN" sz="4700" kern="1200"/>
            </a:p>
          </p:txBody>
        </p:sp>
      </p:grp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AE051556-8B3F-8894-0F39-C261F086CB87}"/>
              </a:ext>
            </a:extLst>
          </p:cNvPr>
          <p:cNvCxnSpPr>
            <a:stCxn id="135" idx="2"/>
            <a:endCxn id="9" idx="0"/>
          </p:cNvCxnSpPr>
          <p:nvPr/>
        </p:nvCxnSpPr>
        <p:spPr>
          <a:xfrm rot="5400000">
            <a:off x="5194458" y="23869"/>
            <a:ext cx="365453" cy="180091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289053FC-5E3C-6658-AD6A-262E51A548D5}"/>
              </a:ext>
            </a:extLst>
          </p:cNvPr>
          <p:cNvCxnSpPr>
            <a:stCxn id="134" idx="2"/>
            <a:endCxn id="6" idx="0"/>
          </p:cNvCxnSpPr>
          <p:nvPr/>
        </p:nvCxnSpPr>
        <p:spPr>
          <a:xfrm rot="16200000" flipH="1">
            <a:off x="7346471" y="-307116"/>
            <a:ext cx="288721" cy="242638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DF1524-0F65-C50F-D7D9-B1047F8FC8CC}"/>
              </a:ext>
            </a:extLst>
          </p:cNvPr>
          <p:cNvCxnSpPr>
            <a:stCxn id="50" idx="2"/>
            <a:endCxn id="31" idx="0"/>
          </p:cNvCxnSpPr>
          <p:nvPr/>
        </p:nvCxnSpPr>
        <p:spPr>
          <a:xfrm flipH="1">
            <a:off x="2766347" y="2994707"/>
            <a:ext cx="27768" cy="4118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531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9F85DB-765F-317E-8482-0D4448517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910715"/>
            <a:ext cx="11341695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         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Linked List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linked list is a linear data structure where elements, called nodes, are connected using pointers.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Each node contains: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Data: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value stored in the node.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Next: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reference to the next node in the list.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Logic used : html ,</a:t>
            </a:r>
            <a:r>
              <a:rPr lang="en-US" altLang="en-US" dirty="0" err="1">
                <a:latin typeface="Arial" panose="020B0604020202020204" pitchFamily="34" charset="0"/>
              </a:rPr>
              <a:t>css</a:t>
            </a:r>
            <a:r>
              <a:rPr lang="en-US" altLang="en-US" dirty="0">
                <a:latin typeface="Arial" panose="020B0604020202020204" pitchFamily="34" charset="0"/>
              </a:rPr>
              <a:t> for styles and animation and </a:t>
            </a:r>
            <a:r>
              <a:rPr lang="en-US" altLang="en-US" dirty="0" err="1">
                <a:latin typeface="Arial" panose="020B0604020202020204" pitchFamily="34" charset="0"/>
              </a:rPr>
              <a:t>javascript</a:t>
            </a:r>
            <a:r>
              <a:rPr lang="en-US" altLang="en-US" dirty="0">
                <a:latin typeface="Arial" panose="020B0604020202020204" pitchFamily="34" charset="0"/>
              </a:rPr>
              <a:t> for nodes formation, deletion, other logics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334044-5026-8C0A-B455-CE8872C0D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6" y="3068321"/>
            <a:ext cx="6115393" cy="3789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47E4E1-3265-1792-9D89-D758DB0EB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880" y="3068320"/>
            <a:ext cx="5526113" cy="375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34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One Rounded and One Snipped 5">
            <a:extLst>
              <a:ext uri="{FF2B5EF4-FFF2-40B4-BE49-F238E27FC236}">
                <a16:creationId xmlns:a16="http://schemas.microsoft.com/office/drawing/2014/main" id="{9DAA0A75-66F0-70CF-F7DD-55A888FD5995}"/>
              </a:ext>
            </a:extLst>
          </p:cNvPr>
          <p:cNvSpPr/>
          <p:nvPr/>
        </p:nvSpPr>
        <p:spPr>
          <a:xfrm>
            <a:off x="913773" y="3332480"/>
            <a:ext cx="4034147" cy="3434080"/>
          </a:xfrm>
          <a:prstGeom prst="snip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Top Corners One Rounded and One Snipped 4">
            <a:extLst>
              <a:ext uri="{FF2B5EF4-FFF2-40B4-BE49-F238E27FC236}">
                <a16:creationId xmlns:a16="http://schemas.microsoft.com/office/drawing/2014/main" id="{3E3C2281-7CCC-C0A8-6365-205C9B5237B0}"/>
              </a:ext>
            </a:extLst>
          </p:cNvPr>
          <p:cNvSpPr/>
          <p:nvPr/>
        </p:nvSpPr>
        <p:spPr>
          <a:xfrm>
            <a:off x="913773" y="533399"/>
            <a:ext cx="3935689" cy="2534921"/>
          </a:xfrm>
          <a:prstGeom prst="snip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4518A6-C05F-070B-BABE-F27BABC3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894078"/>
            <a:ext cx="3935688" cy="2534921"/>
          </a:xfrm>
        </p:spPr>
        <p:txBody>
          <a:bodyPr>
            <a:normAutofit fontScale="90000"/>
          </a:bodyPr>
          <a:lstStyle/>
          <a:p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1600" b="1"/>
            </a:br>
            <a:br>
              <a:rPr lang="en-IN" sz="2700" b="1"/>
            </a:br>
            <a:r>
              <a:rPr lang="en-IN" sz="2700" b="1"/>
              <a:t>Queue Using Linked List</a:t>
            </a:r>
            <a:br>
              <a:rPr lang="en-IN" sz="2700"/>
            </a:br>
            <a:r>
              <a:rPr lang="en-IN" sz="1800" b="1"/>
              <a:t>Concept:</a:t>
            </a:r>
            <a:br>
              <a:rPr lang="en-IN" sz="1600"/>
            </a:br>
            <a:r>
              <a:rPr lang="en-IN" sz="1600"/>
              <a:t>A dynamic structure where nodes are linked together.</a:t>
            </a:r>
            <a:br>
              <a:rPr lang="en-IN" sz="1600"/>
            </a:br>
            <a:r>
              <a:rPr lang="en-IN" sz="1600"/>
              <a:t>Each node contains:</a:t>
            </a:r>
            <a:br>
              <a:rPr lang="en-IN" sz="1600"/>
            </a:br>
            <a:r>
              <a:rPr lang="en-IN" sz="1600"/>
              <a:t> * </a:t>
            </a:r>
            <a:r>
              <a:rPr lang="en-IN" sz="1600" b="1" i="1"/>
              <a:t>Data</a:t>
            </a:r>
            <a:r>
              <a:rPr lang="en-IN" sz="1600" i="1"/>
              <a:t>:</a:t>
            </a:r>
            <a:r>
              <a:rPr lang="en-IN" sz="1600"/>
              <a:t> Value stored in the node.</a:t>
            </a:r>
            <a:br>
              <a:rPr lang="en-IN" sz="1600"/>
            </a:br>
            <a:r>
              <a:rPr lang="en-IN" sz="1600"/>
              <a:t>* </a:t>
            </a:r>
            <a:r>
              <a:rPr lang="en-IN" sz="1600" b="1" i="1"/>
              <a:t>Next</a:t>
            </a:r>
            <a:r>
              <a:rPr lang="en-IN" sz="1600" i="1"/>
              <a:t>:</a:t>
            </a:r>
            <a:r>
              <a:rPr lang="en-IN" sz="1600"/>
              <a:t> Pointer to the next node.</a:t>
            </a:r>
            <a:br>
              <a:rPr lang="en-IN" sz="1600"/>
            </a:br>
            <a:r>
              <a:rPr lang="en-IN" sz="1600" b="1"/>
              <a:t>* Implementation Steps:</a:t>
            </a:r>
            <a:br>
              <a:rPr lang="en-IN" sz="1600"/>
            </a:br>
            <a:r>
              <a:rPr lang="en-IN" sz="1600"/>
              <a:t>Use JavaScript classes to represent nodes and the queue.</a:t>
            </a:r>
            <a:br>
              <a:rPr lang="en-IN" sz="1600"/>
            </a:br>
            <a:r>
              <a:rPr lang="en-IN" sz="1600"/>
              <a:t>Dynamically enqueue and dequeue nodes.</a:t>
            </a:r>
            <a:br>
              <a:rPr lang="en-IN"/>
            </a:br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ED0771-2BFF-97DA-FAD6-D6401EB99DE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413" y="1085514"/>
            <a:ext cx="6199187" cy="393352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1BC40-71E6-8156-8A64-F6D24588D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74" y="3256278"/>
            <a:ext cx="3935689" cy="3601722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IN" sz="5100" b="1"/>
              <a:t>Queue Using Array</a:t>
            </a:r>
            <a:endParaRPr lang="en-IN" sz="5100"/>
          </a:p>
          <a:p>
            <a:pPr>
              <a:buFont typeface="Arial" panose="020B0604020202020204" pitchFamily="34" charset="0"/>
              <a:buChar char="•"/>
            </a:pPr>
            <a:r>
              <a:rPr lang="en-IN" sz="3400" b="1"/>
              <a:t>Concept:</a:t>
            </a:r>
            <a:br>
              <a:rPr lang="en-IN" sz="2500"/>
            </a:br>
            <a:r>
              <a:rPr lang="en-IN" sz="3000"/>
              <a:t>A static structure implemented using a fixed or resizable array.</a:t>
            </a:r>
            <a:br>
              <a:rPr lang="en-IN" sz="3000"/>
            </a:br>
            <a:r>
              <a:rPr lang="en-IN" sz="3000"/>
              <a:t>Operations: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3400" b="1" i="1"/>
              <a:t>Enqueue</a:t>
            </a:r>
            <a:r>
              <a:rPr lang="en-IN" sz="2500" i="1"/>
              <a:t>:</a:t>
            </a:r>
            <a:r>
              <a:rPr lang="en-IN" sz="2500"/>
              <a:t> Add an element at the end of the array.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4000" b="1" i="1"/>
              <a:t>Dequeue</a:t>
            </a:r>
            <a:r>
              <a:rPr lang="en-IN" sz="2500" i="1"/>
              <a:t>:</a:t>
            </a:r>
            <a:r>
              <a:rPr lang="en-IN" sz="2500"/>
              <a:t> Remove an element from the front.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/>
              <a:t>Implementation Steps:</a:t>
            </a:r>
            <a:endParaRPr lang="en-IN" sz="25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500"/>
              <a:t>Maintain an array to store elements.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500"/>
              <a:t>Use JavaScript methods to add/remove elements</a:t>
            </a:r>
            <a:r>
              <a:rPr lang="en-IN"/>
              <a:t>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13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One Rounded and One Snipped 5">
            <a:extLst>
              <a:ext uri="{FF2B5EF4-FFF2-40B4-BE49-F238E27FC236}">
                <a16:creationId xmlns:a16="http://schemas.microsoft.com/office/drawing/2014/main" id="{FE35CFB4-EDB0-D6DA-C5BC-6CDD5660936F}"/>
              </a:ext>
            </a:extLst>
          </p:cNvPr>
          <p:cNvSpPr/>
          <p:nvPr/>
        </p:nvSpPr>
        <p:spPr>
          <a:xfrm>
            <a:off x="386079" y="3429000"/>
            <a:ext cx="4463383" cy="2910840"/>
          </a:xfrm>
          <a:prstGeom prst="snip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Top Corners One Rounded and One Snipped 4">
            <a:extLst>
              <a:ext uri="{FF2B5EF4-FFF2-40B4-BE49-F238E27FC236}">
                <a16:creationId xmlns:a16="http://schemas.microsoft.com/office/drawing/2014/main" id="{AE71E25A-5EF8-C203-3122-8E9045948AB9}"/>
              </a:ext>
            </a:extLst>
          </p:cNvPr>
          <p:cNvSpPr/>
          <p:nvPr/>
        </p:nvSpPr>
        <p:spPr>
          <a:xfrm>
            <a:off x="386080" y="1026160"/>
            <a:ext cx="4463383" cy="2316480"/>
          </a:xfrm>
          <a:prstGeom prst="snip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9DD6F9-02DF-FE97-3B21-57C03568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609600"/>
            <a:ext cx="4361783" cy="2733040"/>
          </a:xfrm>
        </p:spPr>
        <p:txBody>
          <a:bodyPr>
            <a:normAutofit fontScale="90000"/>
          </a:bodyPr>
          <a:lstStyle/>
          <a:p>
            <a:br>
              <a:rPr lang="en-IN"/>
            </a:br>
            <a:r>
              <a:rPr lang="en-IN" sz="2700" b="1"/>
              <a:t>Stack Using Linked List</a:t>
            </a:r>
            <a:br>
              <a:rPr lang="en-IN" sz="2200"/>
            </a:br>
            <a:r>
              <a:rPr lang="en-IN" sz="1600" b="1"/>
              <a:t>Concept:</a:t>
            </a:r>
            <a:br>
              <a:rPr lang="en-IN" sz="1600"/>
            </a:br>
            <a:r>
              <a:rPr lang="en-IN" sz="1600"/>
              <a:t>A dynamic stack where each element is stored as a node.</a:t>
            </a:r>
            <a:br>
              <a:rPr lang="en-IN" sz="1600">
                <a:highlight>
                  <a:srgbClr val="FFFF00"/>
                </a:highlight>
              </a:rPr>
            </a:br>
            <a:r>
              <a:rPr lang="en-IN" sz="1600"/>
              <a:t>Each node contains:</a:t>
            </a:r>
            <a:br>
              <a:rPr lang="en-IN" sz="1600"/>
            </a:br>
            <a:r>
              <a:rPr lang="en-IN" sz="1600" i="1"/>
              <a:t>Data:</a:t>
            </a:r>
            <a:r>
              <a:rPr lang="en-IN" sz="1600"/>
              <a:t> The value.</a:t>
            </a:r>
            <a:br>
              <a:rPr lang="en-IN" sz="1600"/>
            </a:br>
            <a:r>
              <a:rPr lang="en-IN" sz="1600" i="1"/>
              <a:t>Next:</a:t>
            </a:r>
            <a:r>
              <a:rPr lang="en-IN" sz="1600"/>
              <a:t> Pointer to the next node in the stack.</a:t>
            </a:r>
            <a:br>
              <a:rPr lang="en-IN" sz="1600"/>
            </a:br>
            <a:r>
              <a:rPr lang="en-IN" sz="1600" b="1"/>
              <a:t>Implementation Steps:</a:t>
            </a:r>
            <a:br>
              <a:rPr lang="en-IN" sz="1600"/>
            </a:br>
            <a:r>
              <a:rPr lang="en-IN" sz="1600"/>
              <a:t>Use JavaScript classes to represent nodes and the stack.</a:t>
            </a:r>
            <a:br>
              <a:rPr lang="en-IN" sz="1600"/>
            </a:br>
            <a:r>
              <a:rPr lang="en-IN" sz="1600"/>
              <a:t>Perform push and pop operations dynamically.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DAABC-6B08-1E22-1532-307D8A553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3342640"/>
            <a:ext cx="4849463" cy="328168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sz="2800" b="1"/>
              <a:t>Stack Using array</a:t>
            </a:r>
          </a:p>
          <a:p>
            <a:pPr>
              <a:buNone/>
            </a:pPr>
            <a:r>
              <a:rPr lang="en-IN" b="1"/>
              <a:t>Concept:</a:t>
            </a:r>
            <a:br>
              <a:rPr lang="en-IN"/>
            </a:br>
            <a:r>
              <a:rPr lang="en-IN"/>
              <a:t>A static stack implemented using an array.</a:t>
            </a:r>
            <a:br>
              <a:rPr lang="en-IN"/>
            </a:br>
            <a:r>
              <a:rPr lang="en-IN"/>
              <a:t>Operations: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i="1"/>
              <a:t>Push:</a:t>
            </a:r>
            <a:r>
              <a:rPr lang="en-IN" sz="1600"/>
              <a:t> Add an element to the top of the stack.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i="1"/>
              <a:t>Pop:</a:t>
            </a:r>
            <a:r>
              <a:rPr lang="en-IN" sz="1600"/>
              <a:t> Remove the element from the top of the stack.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Implementation Steps:</a:t>
            </a:r>
            <a:endParaRPr lang="en-I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/>
              <a:t>Maintain an array to store elements.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/>
              <a:t>Use JavaScript methods to perform stack operations.</a:t>
            </a:r>
            <a:endParaRPr lang="en-IN" sz="1600">
              <a:highlight>
                <a:srgbClr val="FFFF00"/>
              </a:highlight>
            </a:endParaRPr>
          </a:p>
          <a:p>
            <a:endParaRPr lang="en-IN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92D75CE7-9E0E-11AC-3C2E-03970BC1F7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413" y="1403604"/>
            <a:ext cx="6199187" cy="3593591"/>
          </a:xfrm>
        </p:spPr>
      </p:pic>
    </p:spTree>
    <p:extLst>
      <p:ext uri="{BB962C8B-B14F-4D97-AF65-F5344CB8AC3E}">
        <p14:creationId xmlns:p14="http://schemas.microsoft.com/office/powerpoint/2010/main" val="3855672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DC67D-CD30-9152-2516-46ABF176C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74" y="659157"/>
            <a:ext cx="10364451" cy="1596177"/>
          </a:xfrm>
        </p:spPr>
        <p:txBody>
          <a:bodyPr>
            <a:noAutofit/>
          </a:bodyPr>
          <a:lstStyle/>
          <a:p>
            <a:r>
              <a:rPr lang="en-IN" sz="3200" b="1" dirty="0"/>
              <a:t>Binary Search Tree: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A BST is a hierarchical data structure where each node has at most two children, and:</a:t>
            </a:r>
            <a:br>
              <a:rPr lang="en-IN" sz="2000" dirty="0"/>
            </a:br>
            <a:r>
              <a:rPr lang="en-IN" sz="2000" i="1" dirty="0"/>
              <a:t>Left Subtree:</a:t>
            </a:r>
            <a:r>
              <a:rPr lang="en-IN" sz="2000" dirty="0"/>
              <a:t> Contains nodes with values less than the parent node.</a:t>
            </a:r>
            <a:br>
              <a:rPr lang="en-IN" sz="2000" dirty="0"/>
            </a:br>
            <a:r>
              <a:rPr lang="en-IN" sz="2000" i="1" dirty="0"/>
              <a:t>Right Subtree:</a:t>
            </a:r>
            <a:r>
              <a:rPr lang="en-IN" sz="2000" dirty="0"/>
              <a:t> Contains nodes with values greater than the parent node.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DA5DA-87CD-08A5-EA28-7305CA173F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440" y="2367092"/>
            <a:ext cx="4958080" cy="3424107"/>
          </a:xfrm>
        </p:spPr>
        <p:txBody>
          <a:bodyPr>
            <a:normAutofit fontScale="92500"/>
          </a:bodyPr>
          <a:lstStyle/>
          <a:p>
            <a:r>
              <a:rPr lang="en-US" sz="1800"/>
              <a:t>Dynamic creation and deletion of nodes are implemented using </a:t>
            </a:r>
            <a:r>
              <a:rPr lang="en-US" sz="1800" err="1"/>
              <a:t>js</a:t>
            </a:r>
            <a:r>
              <a:rPr lang="en-US" sz="1800"/>
              <a:t> logics while ensuring the property of </a:t>
            </a:r>
            <a:r>
              <a:rPr lang="en-US" sz="1800" err="1"/>
              <a:t>bst</a:t>
            </a:r>
            <a:r>
              <a:rPr lang="en-US" sz="1800"/>
              <a:t> !!</a:t>
            </a:r>
          </a:p>
          <a:p>
            <a:r>
              <a:rPr lang="en-US" sz="1800"/>
              <a:t>Here the feature of preorder , </a:t>
            </a:r>
            <a:r>
              <a:rPr lang="en-US" sz="1800" err="1"/>
              <a:t>inorder</a:t>
            </a:r>
            <a:r>
              <a:rPr lang="en-US" sz="1800"/>
              <a:t> , </a:t>
            </a:r>
            <a:r>
              <a:rPr lang="en-US" sz="1800" err="1"/>
              <a:t>postorder</a:t>
            </a:r>
            <a:r>
              <a:rPr lang="en-US" sz="1800"/>
              <a:t>  are implemented </a:t>
            </a:r>
            <a:r>
              <a:rPr lang="en-US" sz="1800" err="1"/>
              <a:t>enhanching</a:t>
            </a:r>
            <a:r>
              <a:rPr lang="en-US" sz="1800"/>
              <a:t> learners experience and understanding..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Time complexity: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sz="1800" i="1"/>
              <a:t>Best case:</a:t>
            </a:r>
            <a:r>
              <a:rPr lang="en-IN" sz="1800"/>
              <a:t> O(log n) (balanced tree).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IN" sz="1800" i="1"/>
              <a:t>Worst case:</a:t>
            </a:r>
            <a:r>
              <a:rPr lang="en-IN" sz="1800"/>
              <a:t> O(n) (skewed tree).</a:t>
            </a:r>
          </a:p>
          <a:p>
            <a:endParaRPr lang="en-IN" sz="1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C0ECEF-64D7-02E3-86DE-CEDEEA05E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520" y="2440620"/>
            <a:ext cx="6532880" cy="375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70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6B7A-A1DA-0BEE-646B-F3C943ECB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2043403"/>
          </a:xfrm>
        </p:spPr>
        <p:txBody>
          <a:bodyPr>
            <a:normAutofit fontScale="90000"/>
          </a:bodyPr>
          <a:lstStyle/>
          <a:p>
            <a:r>
              <a:rPr lang="en-IN" sz="2800"/>
              <a:t>AVL TREE :</a:t>
            </a:r>
            <a:r>
              <a:rPr lang="en-IN" sz="2000"/>
              <a:t> An AVL tree is a self-balancing binary search tree (BST) where the balance factor (difference between heights of left and right subtrees) for every node is either -1, 0, or 1.</a:t>
            </a:r>
            <a:br>
              <a:rPr lang="en-IN" sz="1800"/>
            </a:br>
            <a:r>
              <a:rPr lang="en-IN" sz="2000"/>
              <a:t>we ensured the dynamic and swift left , right , LR  , RL rotations for ensuring the properties of AVL tree !! </a:t>
            </a: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8E078-44A6-5815-CCD2-7282C1E890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92960"/>
            <a:ext cx="5106026" cy="3698239"/>
          </a:xfrm>
        </p:spPr>
        <p:txBody>
          <a:bodyPr>
            <a:normAutofit/>
          </a:bodyPr>
          <a:lstStyle/>
          <a:p>
            <a:r>
              <a:rPr lang="en-US" sz="1800"/>
              <a:t>LOGIC </a:t>
            </a:r>
            <a:r>
              <a:rPr lang="en-US" sz="1800" err="1"/>
              <a:t>USEd</a:t>
            </a:r>
            <a:r>
              <a:rPr lang="en-US" sz="1800"/>
              <a:t> : dynamic creation deletion of nodes ,calculation of balance factor and required rotations using </a:t>
            </a:r>
            <a:r>
              <a:rPr lang="en-US" sz="1800" err="1"/>
              <a:t>javascript</a:t>
            </a:r>
            <a:r>
              <a:rPr lang="en-US" sz="1800"/>
              <a:t> !!</a:t>
            </a:r>
          </a:p>
          <a:p>
            <a:r>
              <a:rPr lang="en-US" sz="1800"/>
              <a:t>Swift animations for better beginner understanding …</a:t>
            </a:r>
          </a:p>
          <a:p>
            <a:endParaRPr lang="en-IN" sz="180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A7208415-DA0F-9F3E-798D-F739A5E9A31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69440"/>
            <a:ext cx="5918200" cy="4632960"/>
          </a:xfrm>
        </p:spPr>
      </p:pic>
    </p:spTree>
    <p:extLst>
      <p:ext uri="{BB962C8B-B14F-4D97-AF65-F5344CB8AC3E}">
        <p14:creationId xmlns:p14="http://schemas.microsoft.com/office/powerpoint/2010/main" val="527222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AE2A8-0924-D796-28E8-85268972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US" b="1" i="1"/>
              <a:t>Sorting algorithms </a:t>
            </a:r>
            <a:br>
              <a:rPr lang="en-US"/>
            </a:br>
            <a:r>
              <a:rPr lang="en-US" sz="2200"/>
              <a:t>we have made visualizers for the following sorting algorithms by detailed comparisons and self explanatory animations using java script logics</a:t>
            </a:r>
            <a:endParaRPr lang="en-IN" sz="2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A6B58-FE34-221A-B14B-5447815C9A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4680781" cy="3424107"/>
          </a:xfrm>
        </p:spPr>
        <p:txBody>
          <a:bodyPr>
            <a:normAutofit fontScale="77500" lnSpcReduction="20000"/>
          </a:bodyPr>
          <a:lstStyle/>
          <a:p>
            <a:r>
              <a:rPr lang="en-US" sz="3600" b="1"/>
              <a:t>Bubble sort </a:t>
            </a:r>
            <a:r>
              <a:rPr lang="en-US"/>
              <a:t>:</a:t>
            </a:r>
            <a:r>
              <a:rPr lang="en-IN"/>
              <a:t> Bubble Sort</a:t>
            </a:r>
            <a:br>
              <a:rPr lang="en-IN"/>
            </a:br>
            <a:r>
              <a:rPr lang="en-IN" b="1"/>
              <a:t>Content:</a:t>
            </a:r>
            <a:br>
              <a:rPr lang="en-IN"/>
            </a:br>
            <a:r>
              <a:rPr lang="en-IN" b="1"/>
              <a:t>Concept:</a:t>
            </a:r>
            <a:br>
              <a:rPr lang="en-IN"/>
            </a:br>
            <a:r>
              <a:rPr lang="en-IN"/>
              <a:t>Repeatedly swaps adjacent elements if they are in the wrong order.</a:t>
            </a:r>
            <a:br>
              <a:rPr lang="en-IN"/>
            </a:br>
            <a:r>
              <a:rPr lang="en-IN"/>
              <a:t>A simple but inefficient algorithm.</a:t>
            </a:r>
            <a:br>
              <a:rPr lang="en-IN"/>
            </a:br>
            <a:r>
              <a:rPr lang="en-IN" b="1"/>
              <a:t>Steps:</a:t>
            </a:r>
            <a:br>
              <a:rPr lang="en-IN"/>
            </a:br>
            <a:r>
              <a:rPr lang="en-IN"/>
              <a:t>Compare each pair of adjacent elements.</a:t>
            </a:r>
            <a:br>
              <a:rPr lang="en-IN"/>
            </a:br>
            <a:r>
              <a:rPr lang="en-IN"/>
              <a:t>Swap them if they are in the wrong order.</a:t>
            </a:r>
            <a:br>
              <a:rPr lang="en-IN"/>
            </a:br>
            <a:r>
              <a:rPr lang="en-IN"/>
              <a:t>Repeat for all elements until no swaps are needed.</a:t>
            </a:r>
            <a:br>
              <a:rPr lang="en-IN"/>
            </a:br>
            <a:r>
              <a:rPr lang="en-IN" b="1"/>
              <a:t>Time Complexity:</a:t>
            </a:r>
            <a:r>
              <a:rPr lang="en-IN"/>
              <a:t> O(n²).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9073A-D12D-A674-D56A-ACD81B504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380" y="2214694"/>
            <a:ext cx="6528619" cy="445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79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F621D-7CD7-EE91-E825-54A48B721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5712542"/>
          </a:xfrm>
        </p:spPr>
        <p:txBody>
          <a:bodyPr>
            <a:normAutofit/>
          </a:bodyPr>
          <a:lstStyle/>
          <a:p>
            <a:r>
              <a:rPr lang="en-US" sz="2200" b="1"/>
              <a:t>Bubble sort </a:t>
            </a:r>
            <a:r>
              <a:rPr lang="en-US" sz="2200"/>
              <a:t>:</a:t>
            </a:r>
            <a:r>
              <a:rPr lang="en-IN" sz="2200"/>
              <a:t> Bubble Sort</a:t>
            </a:r>
            <a:br>
              <a:rPr lang="en-IN" sz="2200"/>
            </a:br>
            <a:r>
              <a:rPr lang="en-IN" sz="2200" b="1"/>
              <a:t>Content:</a:t>
            </a:r>
            <a:br>
              <a:rPr lang="en-IN" sz="2200"/>
            </a:br>
            <a:r>
              <a:rPr lang="en-IN" sz="2200" b="1"/>
              <a:t>Concept:</a:t>
            </a:r>
            <a:br>
              <a:rPr lang="en-IN" sz="2200"/>
            </a:br>
            <a:r>
              <a:rPr lang="en-IN" sz="2200"/>
              <a:t>Repeatedly swaps adjacent elements if they are in the wrong order.</a:t>
            </a:r>
            <a:br>
              <a:rPr lang="en-IN" sz="2200"/>
            </a:br>
            <a:r>
              <a:rPr lang="en-IN" sz="2200"/>
              <a:t>A simple but inefficient algorithm.</a:t>
            </a:r>
            <a:br>
              <a:rPr lang="en-IN" sz="2200"/>
            </a:br>
            <a:r>
              <a:rPr lang="en-IN" sz="2200" b="1"/>
              <a:t>Steps:</a:t>
            </a:r>
            <a:br>
              <a:rPr lang="en-IN" sz="2200"/>
            </a:br>
            <a:r>
              <a:rPr lang="en-IN" sz="2200"/>
              <a:t>Compare each pair of adjacent elements.</a:t>
            </a:r>
            <a:br>
              <a:rPr lang="en-IN" sz="2200"/>
            </a:br>
            <a:r>
              <a:rPr lang="en-IN" sz="2200"/>
              <a:t>Swap them if they are in the wrong order.</a:t>
            </a:r>
            <a:br>
              <a:rPr lang="en-IN" sz="2200"/>
            </a:br>
            <a:r>
              <a:rPr lang="en-IN" sz="2200"/>
              <a:t>Repeat for all elements until no swaps are needed.</a:t>
            </a:r>
            <a:br>
              <a:rPr lang="en-IN" sz="2200"/>
            </a:br>
            <a:r>
              <a:rPr lang="en-IN" sz="2200" b="1"/>
              <a:t>Time Complexity:</a:t>
            </a:r>
            <a:r>
              <a:rPr lang="en-IN" sz="2200"/>
              <a:t> O(n²).</a:t>
            </a:r>
            <a:br>
              <a:rPr lang="en-IN"/>
            </a:b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B7A5E-01FB-6043-4AD3-297628A6D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 flipV="1">
            <a:off x="913774" y="7157884"/>
            <a:ext cx="3935689" cy="245806"/>
          </a:xfrm>
        </p:spPr>
        <p:txBody>
          <a:bodyPr>
            <a:normAutofit fontScale="62500" lnSpcReduction="20000"/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D562CC-279A-A0E1-1DEA-ABEDFA595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085" y="280548"/>
            <a:ext cx="5963482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78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4852-80ED-E109-90F6-101BCA476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5953760"/>
          </a:xfrm>
        </p:spPr>
        <p:txBody>
          <a:bodyPr>
            <a:noAutofit/>
          </a:bodyPr>
          <a:lstStyle/>
          <a:p>
            <a:br>
              <a:rPr lang="en-IN" b="1" i="1"/>
            </a:br>
            <a:br>
              <a:rPr lang="en-IN" b="1" i="1"/>
            </a:br>
            <a:br>
              <a:rPr lang="en-IN" b="1" i="1"/>
            </a:br>
            <a:r>
              <a:rPr lang="en-IN" b="1" i="1"/>
              <a:t>Merge Sort</a:t>
            </a:r>
            <a:br>
              <a:rPr lang="en-IN" sz="2400"/>
            </a:br>
            <a:r>
              <a:rPr lang="en-IN" sz="2400" b="1"/>
              <a:t>Concept:</a:t>
            </a:r>
            <a:br>
              <a:rPr lang="en-IN" sz="2400"/>
            </a:br>
            <a:r>
              <a:rPr lang="en-IN" sz="2400"/>
              <a:t>A divide-and-conquer algorithm.</a:t>
            </a:r>
            <a:br>
              <a:rPr lang="en-IN" sz="2400"/>
            </a:br>
            <a:r>
              <a:rPr lang="en-IN" sz="2400"/>
              <a:t>Splits the array into halves, sorts them, and merges the sorted halves.</a:t>
            </a:r>
            <a:br>
              <a:rPr lang="en-IN" sz="2400"/>
            </a:br>
            <a:r>
              <a:rPr lang="en-IN" sz="2400" b="1"/>
              <a:t>Steps:</a:t>
            </a:r>
            <a:br>
              <a:rPr lang="en-IN" sz="2400"/>
            </a:br>
            <a:r>
              <a:rPr lang="en-IN" sz="2400"/>
              <a:t>Divide the array into two halves.</a:t>
            </a:r>
            <a:br>
              <a:rPr lang="en-IN" sz="2400"/>
            </a:br>
            <a:r>
              <a:rPr lang="en-IN" sz="2400"/>
              <a:t>Recursively sort each half.</a:t>
            </a:r>
            <a:br>
              <a:rPr lang="en-IN" sz="2400"/>
            </a:br>
            <a:r>
              <a:rPr lang="en-IN" sz="2400"/>
              <a:t>Merge the two halves into a sorted array.</a:t>
            </a:r>
            <a:br>
              <a:rPr lang="en-IN" sz="2400"/>
            </a:br>
            <a:r>
              <a:rPr lang="en-IN" sz="2400" b="1"/>
              <a:t>Time Complexity:</a:t>
            </a:r>
            <a:r>
              <a:rPr lang="en-IN" sz="2400"/>
              <a:t> O(n log n).</a:t>
            </a:r>
            <a:br>
              <a:rPr lang="en-IN" sz="2400"/>
            </a:br>
            <a:endParaRPr lang="en-IN" sz="240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B9A897-D059-4476-BAB7-ABAADCE93C0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413" y="216310"/>
            <a:ext cx="7032307" cy="474177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B1BCF-FB9D-973A-75F5-3EC27CC96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 flipV="1">
            <a:off x="913774" y="5791200"/>
            <a:ext cx="3935689" cy="161544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762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C17FB-6996-94FB-944A-2C40FEEB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09599"/>
            <a:ext cx="3935688" cy="5181599"/>
          </a:xfrm>
        </p:spPr>
        <p:txBody>
          <a:bodyPr>
            <a:normAutofit fontScale="90000"/>
          </a:bodyPr>
          <a:lstStyle/>
          <a:p>
            <a:r>
              <a:rPr lang="en-IN" sz="2200" b="1" i="1"/>
              <a:t> </a:t>
            </a:r>
            <a:r>
              <a:rPr lang="en-IN" sz="3100" b="1" i="1"/>
              <a:t>Heap Sort</a:t>
            </a:r>
            <a:br>
              <a:rPr lang="en-IN" sz="2200"/>
            </a:br>
            <a:br>
              <a:rPr lang="en-IN" sz="2200"/>
            </a:br>
            <a:r>
              <a:rPr lang="en-IN" sz="2200" b="1"/>
              <a:t>Concept:</a:t>
            </a:r>
            <a:br>
              <a:rPr lang="en-IN" sz="2200"/>
            </a:br>
            <a:r>
              <a:rPr lang="en-IN" sz="2200"/>
              <a:t>Uses a binary heap to sort elements.</a:t>
            </a:r>
            <a:br>
              <a:rPr lang="en-IN" sz="2200"/>
            </a:br>
            <a:r>
              <a:rPr lang="en-IN" sz="2200"/>
              <a:t>Builds a max-heap and repeatedly extracts the maximum element.</a:t>
            </a:r>
            <a:br>
              <a:rPr lang="en-IN" sz="2200"/>
            </a:br>
            <a:r>
              <a:rPr lang="en-IN" sz="2200" b="1"/>
              <a:t>Steps:</a:t>
            </a:r>
            <a:br>
              <a:rPr lang="en-IN" sz="2200"/>
            </a:br>
            <a:r>
              <a:rPr lang="en-IN" sz="2200"/>
              <a:t>Build a max-heap from the input array.</a:t>
            </a:r>
            <a:br>
              <a:rPr lang="en-IN" sz="2200"/>
            </a:br>
            <a:r>
              <a:rPr lang="en-IN" sz="2200"/>
              <a:t>Extract the maximum element repeatedly and reduce heap size.</a:t>
            </a:r>
            <a:br>
              <a:rPr lang="en-IN" sz="2200"/>
            </a:br>
            <a:r>
              <a:rPr lang="en-IN" sz="2200" b="1"/>
              <a:t>Time Complexity:</a:t>
            </a:r>
            <a:r>
              <a:rPr lang="en-IN" sz="2200"/>
              <a:t> O(n log n).</a:t>
            </a:r>
            <a:br>
              <a:rPr lang="en-IN"/>
            </a:br>
            <a:endParaRPr lang="en-IN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F4D495C-5A53-4FBF-1328-3A4425EF3C3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824" y="609600"/>
            <a:ext cx="4290365" cy="5181600"/>
          </a:xfrm>
        </p:spPr>
      </p:pic>
    </p:spTree>
    <p:extLst>
      <p:ext uri="{BB962C8B-B14F-4D97-AF65-F5344CB8AC3E}">
        <p14:creationId xmlns:p14="http://schemas.microsoft.com/office/powerpoint/2010/main" val="750102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84F86-8D8F-328D-8471-66D6B61595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8080" y="609600"/>
            <a:ext cx="5050145" cy="518159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/>
              <a:t>                   </a:t>
            </a:r>
            <a:r>
              <a:rPr lang="en-US" sz="2400" b="1" i="1"/>
              <a:t>                   </a:t>
            </a:r>
            <a:r>
              <a:rPr lang="en-IN" sz="5100" b="1" i="1"/>
              <a:t>Selection Sort</a:t>
            </a:r>
            <a:br>
              <a:rPr lang="en-IN" sz="4000"/>
            </a:br>
            <a:br>
              <a:rPr lang="en-IN" sz="4000"/>
            </a:br>
            <a:r>
              <a:rPr lang="en-IN" sz="4000" b="1"/>
              <a:t>Concept:</a:t>
            </a:r>
            <a:br>
              <a:rPr lang="en-IN" sz="4000"/>
            </a:br>
            <a:r>
              <a:rPr lang="en-IN" sz="4000"/>
              <a:t>Selects the smallest element from the unsorted part and swaps it with the first element of the unsorted part.</a:t>
            </a:r>
            <a:br>
              <a:rPr lang="en-IN" sz="4000"/>
            </a:br>
            <a:r>
              <a:rPr lang="en-IN" sz="4000" b="1"/>
              <a:t>Steps:</a:t>
            </a:r>
            <a:br>
              <a:rPr lang="en-IN" sz="4000"/>
            </a:br>
            <a:r>
              <a:rPr lang="en-IN" sz="4000"/>
              <a:t>Find the minimum element from the unsorted array.</a:t>
            </a:r>
            <a:br>
              <a:rPr lang="en-IN" sz="4000"/>
            </a:br>
            <a:r>
              <a:rPr lang="en-IN" sz="4000"/>
              <a:t>Swap it with the first element of the unsorted part.</a:t>
            </a:r>
            <a:br>
              <a:rPr lang="en-IN" sz="4000"/>
            </a:br>
            <a:r>
              <a:rPr lang="en-IN" sz="4000"/>
              <a:t>Repeat until the entire array is sorted.</a:t>
            </a:r>
            <a:br>
              <a:rPr lang="en-IN" sz="4000"/>
            </a:br>
            <a:r>
              <a:rPr lang="en-IN" sz="4000" b="1"/>
              <a:t>Time Complexity:</a:t>
            </a:r>
            <a:r>
              <a:rPr lang="en-IN" sz="4000"/>
              <a:t> O(n²).</a:t>
            </a:r>
            <a:br>
              <a:rPr lang="en-IN" sz="4000"/>
            </a:br>
            <a:endParaRPr lang="en-IN" sz="2400" b="1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E3B24-F9E7-4020-24AA-76E52D19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74" y="609599"/>
            <a:ext cx="4907906" cy="5181601"/>
          </a:xfrm>
        </p:spPr>
        <p:txBody>
          <a:bodyPr>
            <a:normAutofit fontScale="40000" lnSpcReduction="20000"/>
          </a:bodyPr>
          <a:lstStyle/>
          <a:p>
            <a:r>
              <a:rPr lang="en-IN" sz="6000" b="1" i="1"/>
              <a:t>Insertion Sort</a:t>
            </a:r>
            <a:br>
              <a:rPr lang="en-IN" sz="4800"/>
            </a:br>
            <a:br>
              <a:rPr lang="en-IN" sz="4800"/>
            </a:br>
            <a:r>
              <a:rPr lang="en-IN" sz="4800" b="1"/>
              <a:t>Concept:</a:t>
            </a:r>
            <a:br>
              <a:rPr lang="en-IN" sz="4800"/>
            </a:br>
            <a:r>
              <a:rPr lang="en-IN" sz="4800"/>
              <a:t>Inserts elements one by one into their correct position.</a:t>
            </a:r>
            <a:br>
              <a:rPr lang="en-IN" sz="4800"/>
            </a:br>
            <a:r>
              <a:rPr lang="en-IN" sz="4800"/>
              <a:t>Similar to how you sort playing cards in your hand.</a:t>
            </a:r>
            <a:br>
              <a:rPr lang="en-IN" sz="4800"/>
            </a:br>
            <a:r>
              <a:rPr lang="en-IN" sz="4800" b="1"/>
              <a:t>Steps:</a:t>
            </a:r>
            <a:br>
              <a:rPr lang="en-IN" sz="4800"/>
            </a:br>
            <a:r>
              <a:rPr lang="en-IN" sz="4800"/>
              <a:t>Start with the second element and compare it with previous elements.</a:t>
            </a:r>
            <a:br>
              <a:rPr lang="en-IN" sz="4800"/>
            </a:br>
            <a:r>
              <a:rPr lang="en-IN" sz="4800"/>
              <a:t>Shift larger elements to the right.</a:t>
            </a:r>
            <a:br>
              <a:rPr lang="en-IN" sz="4800"/>
            </a:br>
            <a:r>
              <a:rPr lang="en-IN" sz="4800"/>
              <a:t>Insert the current element in its correct position.</a:t>
            </a:r>
            <a:br>
              <a:rPr lang="en-IN" sz="4800"/>
            </a:br>
            <a:r>
              <a:rPr lang="en-IN" sz="4800" b="1"/>
              <a:t>Time Complexity:</a:t>
            </a:r>
            <a:r>
              <a:rPr lang="en-IN" sz="4800"/>
              <a:t> O(n²).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245939908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0</TotalTime>
  <Words>1212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Droplet</vt:lpstr>
      <vt:lpstr>Data Structures  and  Sorting Algorithms visualization tool</vt:lpstr>
      <vt:lpstr>PowerPoint Presentation</vt:lpstr>
      <vt:lpstr>PowerPoint Presentation</vt:lpstr>
      <vt:lpstr>PowerPoint Presentation</vt:lpstr>
      <vt:lpstr>                                                                      Queue Using Linked List Concept: A dynamic structure where nodes are linked together. Each node contains:  * Data: Value stored in the node. * Next: Pointer to the next node. * Implementation Steps: Use JavaScript classes to represent nodes and the queue. Dynamically enqueue and dequeue nodes. </vt:lpstr>
      <vt:lpstr> Stack Using Linked List Concept: A dynamic stack where each element is stored as a node. Each node contains: Data: The value. Next: Pointer to the next node in the stack. Implementation Steps: Use JavaScript classes to represent nodes and the stack. Perform push and pop operations dynamically.</vt:lpstr>
      <vt:lpstr>Binary Search Tree:  A BST is a hierarchical data structure where each node has at most two children, and: Left Subtree: Contains nodes with values less than the parent node. Right Subtree: Contains nodes with values greater than the parent node. </vt:lpstr>
      <vt:lpstr>AVL TREE : An AVL tree is a self-balancing binary search tree (BST) where the balance factor (difference between heights of left and right subtrees) for every node is either -1, 0, or 1. we ensured the dynamic and swift left , right , LR  , RL rotations for ensuring the properties of AVL tree !!  </vt:lpstr>
      <vt:lpstr>Sorting algorithms  we have made visualizers for the following sorting algorithms by detailed comparisons and self explanatory animations using java script logics</vt:lpstr>
      <vt:lpstr>Bubble sort : Bubble Sort Content: Concept: Repeatedly swaps adjacent elements if they are in the wrong order. A simple but inefficient algorithm. Steps: Compare each pair of adjacent elements. Swap them if they are in the wrong order. Repeat for all elements until no swaps are needed. Time Complexity: O(n²). </vt:lpstr>
      <vt:lpstr>   Merge Sort Concept: A divide-and-conquer algorithm. Splits the array into halves, sorts them, and merges the sorted halves. Steps: Divide the array into two halves. Recursively sort each half. Merge the two halves into a sorted array. Time Complexity: O(n log n). </vt:lpstr>
      <vt:lpstr> Heap Sort  Concept: Uses a binary heap to sort elements. Builds a max-heap and repeatedly extracts the maximum element. Steps: Build a max-heap from the input array. Extract the maximum element repeatedly and reduce heap size. Time Complexity: O(n log n).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 and  Sorting Algorithms visualization tool</dc:title>
  <dc:creator>Anoop Tripathi</dc:creator>
  <cp:lastModifiedBy>Shashank Mishra</cp:lastModifiedBy>
  <cp:revision>2</cp:revision>
  <dcterms:created xsi:type="dcterms:W3CDTF">2025-04-13T09:42:45Z</dcterms:created>
  <dcterms:modified xsi:type="dcterms:W3CDTF">2025-04-14T14:01:36Z</dcterms:modified>
</cp:coreProperties>
</file>